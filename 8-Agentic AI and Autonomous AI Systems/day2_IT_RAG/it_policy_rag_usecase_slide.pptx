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Case: IT Policy RAG Chatbot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02920" y="749808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Answer employee questions using only the approved IT Policy PDF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12700">
            <a:solidFill>
              <a:srgbClr val="D7DF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353312"/>
            <a:ext cx="2880360" cy="4187952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D7DF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13232" y="1572768"/>
            <a:ext cx="1234440" cy="320040"/>
          </a:xfrm>
          <a:prstGeom prst="roundRect">
            <a:avLst>
              <a:gd name="adj" fmla="val 45714"/>
            </a:avLst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13232" y="1581912"/>
            <a:ext cx="12344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BUSINESS NEED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713232" y="2002536"/>
            <a:ext cx="24688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Employees need quick, trustworthy answers from a company policy document.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731520" y="2880360"/>
            <a:ext cx="320040" cy="32004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2884932"/>
            <a:ext cx="320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43000" y="2852928"/>
            <a:ext cx="1901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2532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Ask in natural language</a:t>
            </a:r>
            <a:endParaRPr lang="en-US" sz="1320" dirty="0"/>
          </a:p>
        </p:txBody>
      </p:sp>
      <p:sp>
        <p:nvSpPr>
          <p:cNvPr id="12" name="Text 10"/>
          <p:cNvSpPr/>
          <p:nvPr/>
        </p:nvSpPr>
        <p:spPr>
          <a:xfrm>
            <a:off x="1143000" y="3118104"/>
            <a:ext cx="1874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7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“Can I install software on my work laptop?”</a:t>
            </a:r>
            <a:endParaRPr lang="en-US" sz="1170" dirty="0"/>
          </a:p>
        </p:txBody>
      </p:sp>
      <p:sp>
        <p:nvSpPr>
          <p:cNvPr id="13" name="Shape 11"/>
          <p:cNvSpPr/>
          <p:nvPr/>
        </p:nvSpPr>
        <p:spPr>
          <a:xfrm>
            <a:off x="731520" y="3730752"/>
            <a:ext cx="320040" cy="32004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3735324"/>
            <a:ext cx="320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43000" y="3703320"/>
            <a:ext cx="1901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2532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the official source</a:t>
            </a:r>
            <a:endParaRPr lang="en-US" sz="1320" dirty="0"/>
          </a:p>
        </p:txBody>
      </p:sp>
      <p:sp>
        <p:nvSpPr>
          <p:cNvPr id="16" name="Text 14"/>
          <p:cNvSpPr/>
          <p:nvPr/>
        </p:nvSpPr>
        <p:spPr>
          <a:xfrm>
            <a:off x="1143000" y="3968496"/>
            <a:ext cx="1874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7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Answers should come from the IT Policy PDF.</a:t>
            </a:r>
            <a:endParaRPr lang="en-US" sz="1170" dirty="0"/>
          </a:p>
        </p:txBody>
      </p:sp>
      <p:sp>
        <p:nvSpPr>
          <p:cNvPr id="17" name="Shape 15"/>
          <p:cNvSpPr/>
          <p:nvPr/>
        </p:nvSpPr>
        <p:spPr>
          <a:xfrm>
            <a:off x="731520" y="4581144"/>
            <a:ext cx="320040" cy="320040"/>
          </a:xfrm>
          <a:prstGeom prst="ellipse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4585716"/>
            <a:ext cx="320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43000" y="4553712"/>
            <a:ext cx="1901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2532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Avoid invented rules</a:t>
            </a:r>
            <a:endParaRPr lang="en-US" sz="1320" dirty="0"/>
          </a:p>
        </p:txBody>
      </p:sp>
      <p:sp>
        <p:nvSpPr>
          <p:cNvPr id="20" name="Text 18"/>
          <p:cNvSpPr/>
          <p:nvPr/>
        </p:nvSpPr>
        <p:spPr>
          <a:xfrm>
            <a:off x="1143000" y="4818888"/>
            <a:ext cx="1874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7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If the policy does not contain the answer, say so.</a:t>
            </a:r>
            <a:endParaRPr lang="en-US" sz="1170" dirty="0"/>
          </a:p>
        </p:txBody>
      </p:sp>
      <p:sp>
        <p:nvSpPr>
          <p:cNvPr id="21" name="Shape 19"/>
          <p:cNvSpPr/>
          <p:nvPr/>
        </p:nvSpPr>
        <p:spPr>
          <a:xfrm>
            <a:off x="3611880" y="1353312"/>
            <a:ext cx="4919472" cy="4187952"/>
          </a:xfrm>
          <a:prstGeom prst="roundRect">
            <a:avLst>
              <a:gd name="adj" fmla="val 2620"/>
            </a:avLst>
          </a:prstGeom>
          <a:solidFill>
            <a:srgbClr val="FFFFFF"/>
          </a:solidFill>
          <a:ln w="12700">
            <a:solidFill>
              <a:srgbClr val="D7DFE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822192" y="1572768"/>
            <a:ext cx="1143000" cy="320040"/>
          </a:xfrm>
          <a:prstGeom prst="roundRect">
            <a:avLst>
              <a:gd name="adj" fmla="val 45714"/>
            </a:avLst>
          </a:prstGeom>
          <a:solidFill>
            <a:srgbClr val="E8F7F5"/>
          </a:solidFill>
          <a:ln w="12700">
            <a:solidFill>
              <a:srgbClr val="E8F7F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822192" y="1581912"/>
            <a:ext cx="11430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RAG WORKFLOW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5047488" y="1554480"/>
            <a:ext cx="31821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Retrieve first. Generate second.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3840480" y="2084832"/>
            <a:ext cx="1170432" cy="658368"/>
          </a:xfrm>
          <a:prstGeom prst="roundRect">
            <a:avLst>
              <a:gd name="adj" fmla="val 11111"/>
            </a:avLst>
          </a:prstGeom>
          <a:solidFill>
            <a:srgbClr val="EAF2FF"/>
          </a:solidFill>
          <a:ln w="12700">
            <a:solidFill>
              <a:srgbClr val="B8D3F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913632" y="2203704"/>
            <a:ext cx="274320" cy="274320"/>
          </a:xfrm>
          <a:prstGeom prst="ellipse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913632" y="2208276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242816" y="2157984"/>
            <a:ext cx="70408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10" b="1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Employee asks</a:t>
            </a:r>
            <a:endParaRPr lang="en-US" sz="1210" dirty="0"/>
          </a:p>
        </p:txBody>
      </p:sp>
      <p:sp>
        <p:nvSpPr>
          <p:cNvPr id="29" name="Text 27"/>
          <p:cNvSpPr/>
          <p:nvPr/>
        </p:nvSpPr>
        <p:spPr>
          <a:xfrm>
            <a:off x="4242816" y="2404872"/>
            <a:ext cx="70408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Streamlit chat</a:t>
            </a:r>
            <a:endParaRPr lang="en-US" sz="1020" dirty="0"/>
          </a:p>
        </p:txBody>
      </p:sp>
      <p:sp>
        <p:nvSpPr>
          <p:cNvPr id="30" name="Shape 28"/>
          <p:cNvSpPr/>
          <p:nvPr/>
        </p:nvSpPr>
        <p:spPr>
          <a:xfrm>
            <a:off x="5321808" y="2084832"/>
            <a:ext cx="1170432" cy="658368"/>
          </a:xfrm>
          <a:prstGeom prst="roundRect">
            <a:avLst>
              <a:gd name="adj" fmla="val 11111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394960" y="2203704"/>
            <a:ext cx="274320" cy="274320"/>
          </a:xfrm>
          <a:prstGeom prst="ellipse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394960" y="2208276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5724144" y="2157984"/>
            <a:ext cx="70408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10" b="1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Retrieve</a:t>
            </a:r>
            <a:endParaRPr lang="en-US" sz="1210" dirty="0"/>
          </a:p>
        </p:txBody>
      </p:sp>
      <p:sp>
        <p:nvSpPr>
          <p:cNvPr id="34" name="Text 32"/>
          <p:cNvSpPr/>
          <p:nvPr/>
        </p:nvSpPr>
        <p:spPr>
          <a:xfrm>
            <a:off x="5724144" y="2404872"/>
            <a:ext cx="70408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FAISS · top 4</a:t>
            </a:r>
            <a:endParaRPr lang="en-US" sz="1020" dirty="0"/>
          </a:p>
        </p:txBody>
      </p:sp>
      <p:sp>
        <p:nvSpPr>
          <p:cNvPr id="35" name="Shape 33"/>
          <p:cNvSpPr/>
          <p:nvPr/>
        </p:nvSpPr>
        <p:spPr>
          <a:xfrm>
            <a:off x="6803136" y="2084832"/>
            <a:ext cx="1463040" cy="658368"/>
          </a:xfrm>
          <a:prstGeom prst="roundRect">
            <a:avLst>
              <a:gd name="adj" fmla="val 11111"/>
            </a:avLst>
          </a:prstGeom>
          <a:solidFill>
            <a:srgbClr val="E8F7F5"/>
          </a:solidFill>
          <a:ln w="12700">
            <a:solidFill>
              <a:srgbClr val="B5E4DE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876288" y="2203704"/>
            <a:ext cx="274320" cy="274320"/>
          </a:xfrm>
          <a:prstGeom prst="ellipse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876288" y="2208276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7205472" y="2157984"/>
            <a:ext cx="99669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10" b="1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Generate</a:t>
            </a:r>
            <a:endParaRPr lang="en-US" sz="1210" dirty="0"/>
          </a:p>
        </p:txBody>
      </p:sp>
      <p:sp>
        <p:nvSpPr>
          <p:cNvPr id="39" name="Text 37"/>
          <p:cNvSpPr/>
          <p:nvPr/>
        </p:nvSpPr>
        <p:spPr>
          <a:xfrm>
            <a:off x="7205472" y="2404872"/>
            <a:ext cx="99669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Gemini + context</a:t>
            </a:r>
            <a:endParaRPr lang="en-US" sz="1020" dirty="0"/>
          </a:p>
        </p:txBody>
      </p:sp>
      <p:sp>
        <p:nvSpPr>
          <p:cNvPr id="40" name="Shape 38"/>
          <p:cNvSpPr/>
          <p:nvPr/>
        </p:nvSpPr>
        <p:spPr>
          <a:xfrm>
            <a:off x="5029200" y="2414016"/>
            <a:ext cx="256032" cy="0"/>
          </a:xfrm>
          <a:prstGeom prst="line">
            <a:avLst/>
          </a:prstGeom>
          <a:noFill/>
          <a:ln w="22860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41" name="Shape 39"/>
          <p:cNvSpPr/>
          <p:nvPr/>
        </p:nvSpPr>
        <p:spPr>
          <a:xfrm>
            <a:off x="6510528" y="2414016"/>
            <a:ext cx="256032" cy="0"/>
          </a:xfrm>
          <a:prstGeom prst="line">
            <a:avLst/>
          </a:prstGeom>
          <a:noFill/>
          <a:ln w="22860">
            <a:solidFill>
              <a:srgbClr val="0F766E"/>
            </a:solidFill>
            <a:prstDash val="solid"/>
            <a:headEnd type="none"/>
            <a:tailEnd type="triangle"/>
          </a:ln>
        </p:spPr>
      </p:sp>
      <p:sp>
        <p:nvSpPr>
          <p:cNvPr id="42" name="Text 40"/>
          <p:cNvSpPr/>
          <p:nvPr/>
        </p:nvSpPr>
        <p:spPr>
          <a:xfrm>
            <a:off x="3840480" y="3035808"/>
            <a:ext cx="2286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Knowledge base preparation</a:t>
            </a:r>
            <a:endParaRPr lang="en-US" sz="1150" dirty="0"/>
          </a:p>
        </p:txBody>
      </p:sp>
      <p:sp>
        <p:nvSpPr>
          <p:cNvPr id="43" name="Shape 41"/>
          <p:cNvSpPr/>
          <p:nvPr/>
        </p:nvSpPr>
        <p:spPr>
          <a:xfrm>
            <a:off x="3840480" y="3346704"/>
            <a:ext cx="1005840" cy="640080"/>
          </a:xfrm>
          <a:prstGeom prst="roundRect">
            <a:avLst>
              <a:gd name="adj" fmla="val 11429"/>
            </a:avLst>
          </a:prstGeom>
          <a:solidFill>
            <a:srgbClr val="F1F5F9"/>
          </a:solidFill>
          <a:ln w="12700">
            <a:solidFill>
              <a:srgbClr val="D7DFE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895344" y="3401568"/>
            <a:ext cx="8961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20" dirty="0">
                <a:solidFill>
                  <a:srgbClr val="2532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 Policy</a:t>
            </a:r>
            <a:endParaRPr lang="en-US" sz="1120" dirty="0"/>
          </a:p>
          <a:p>
            <a:pPr algn="ctr" indent="0" marL="0">
              <a:buNone/>
            </a:pPr>
            <a:r>
              <a:rPr lang="en-US" sz="1120" dirty="0">
                <a:solidFill>
                  <a:srgbClr val="2532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PDF</a:t>
            </a:r>
            <a:endParaRPr lang="en-US" sz="1120" dirty="0"/>
          </a:p>
        </p:txBody>
      </p:sp>
      <p:sp>
        <p:nvSpPr>
          <p:cNvPr id="45" name="Shape 43"/>
          <p:cNvSpPr/>
          <p:nvPr/>
        </p:nvSpPr>
        <p:spPr>
          <a:xfrm>
            <a:off x="5047488" y="3346704"/>
            <a:ext cx="1143000" cy="640080"/>
          </a:xfrm>
          <a:prstGeom prst="roundRect">
            <a:avLst>
              <a:gd name="adj" fmla="val 11429"/>
            </a:avLst>
          </a:prstGeom>
          <a:solidFill>
            <a:srgbClr val="F1F5F9"/>
          </a:solidFill>
          <a:ln w="12700">
            <a:solidFill>
              <a:srgbClr val="D7DFE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102352" y="3401568"/>
            <a:ext cx="10332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20" dirty="0">
                <a:solidFill>
                  <a:srgbClr val="2532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Split into</a:t>
            </a:r>
            <a:endParaRPr lang="en-US" sz="1120" dirty="0"/>
          </a:p>
          <a:p>
            <a:pPr algn="ctr" indent="0" marL="0">
              <a:buNone/>
            </a:pPr>
            <a:r>
              <a:rPr lang="en-US" sz="1120" dirty="0">
                <a:solidFill>
                  <a:srgbClr val="2532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chunks</a:t>
            </a:r>
            <a:endParaRPr lang="en-US" sz="1120" dirty="0"/>
          </a:p>
        </p:txBody>
      </p:sp>
      <p:sp>
        <p:nvSpPr>
          <p:cNvPr id="47" name="Shape 45"/>
          <p:cNvSpPr/>
          <p:nvPr/>
        </p:nvSpPr>
        <p:spPr>
          <a:xfrm>
            <a:off x="6400800" y="3346704"/>
            <a:ext cx="1591056" cy="640080"/>
          </a:xfrm>
          <a:prstGeom prst="roundRect">
            <a:avLst>
              <a:gd name="adj" fmla="val 11429"/>
            </a:avLst>
          </a:prstGeom>
          <a:solidFill>
            <a:srgbClr val="F1F5F9"/>
          </a:solidFill>
          <a:ln w="12700">
            <a:solidFill>
              <a:srgbClr val="D7DFE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455664" y="3401568"/>
            <a:ext cx="14813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2532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HuggingFace</a:t>
            </a:r>
            <a:endParaRPr lang="en-US" sz="1120" dirty="0"/>
          </a:p>
          <a:p>
            <a:pPr algn="ctr" indent="0" marL="0">
              <a:buNone/>
            </a:pPr>
            <a:r>
              <a:rPr lang="en-US" sz="1120" b="1" dirty="0">
                <a:solidFill>
                  <a:srgbClr val="2532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embeddings → FAISS</a:t>
            </a:r>
            <a:endParaRPr lang="en-US" sz="1120" dirty="0"/>
          </a:p>
        </p:txBody>
      </p:sp>
      <p:sp>
        <p:nvSpPr>
          <p:cNvPr id="49" name="Shape 47"/>
          <p:cNvSpPr/>
          <p:nvPr/>
        </p:nvSpPr>
        <p:spPr>
          <a:xfrm>
            <a:off x="4864608" y="3666744"/>
            <a:ext cx="155448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50" name="Shape 48"/>
          <p:cNvSpPr/>
          <p:nvPr/>
        </p:nvSpPr>
        <p:spPr>
          <a:xfrm>
            <a:off x="6208776" y="3666744"/>
            <a:ext cx="164592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51" name="Shape 49"/>
          <p:cNvSpPr/>
          <p:nvPr/>
        </p:nvSpPr>
        <p:spPr>
          <a:xfrm>
            <a:off x="3840480" y="4297680"/>
            <a:ext cx="4425696" cy="841248"/>
          </a:xfrm>
          <a:prstGeom prst="roundRect">
            <a:avLst>
              <a:gd name="adj" fmla="val 8696"/>
            </a:avLst>
          </a:prstGeom>
          <a:solidFill>
            <a:srgbClr val="ECF8EF"/>
          </a:solidFill>
          <a:ln w="12700">
            <a:solidFill>
              <a:srgbClr val="BDE3C5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041648" y="4407408"/>
            <a:ext cx="13533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70" b="1" dirty="0">
                <a:solidFill>
                  <a:srgbClr val="1580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Grounded answer</a:t>
            </a:r>
            <a:endParaRPr lang="en-US" sz="1270" dirty="0"/>
          </a:p>
        </p:txBody>
      </p:sp>
      <p:sp>
        <p:nvSpPr>
          <p:cNvPr id="53" name="Text 51"/>
          <p:cNvSpPr/>
          <p:nvPr/>
        </p:nvSpPr>
        <p:spPr>
          <a:xfrm>
            <a:off x="5285232" y="4370832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40" dirty="0">
                <a:solidFill>
                  <a:srgbClr val="2532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Gemini receives only the retrieved policy context + the question.</a:t>
            </a:r>
            <a:endParaRPr lang="en-US" sz="1140" dirty="0"/>
          </a:p>
        </p:txBody>
      </p:sp>
      <p:sp>
        <p:nvSpPr>
          <p:cNvPr id="54" name="Text 52"/>
          <p:cNvSpPr/>
          <p:nvPr/>
        </p:nvSpPr>
        <p:spPr>
          <a:xfrm>
            <a:off x="4041648" y="4718304"/>
            <a:ext cx="3886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9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If the answer is missing → return the “information is not available” fallback.</a:t>
            </a:r>
            <a:endParaRPr lang="en-US" sz="1090" dirty="0"/>
          </a:p>
        </p:txBody>
      </p:sp>
      <p:sp>
        <p:nvSpPr>
          <p:cNvPr id="55" name="Shape 53"/>
          <p:cNvSpPr/>
          <p:nvPr/>
        </p:nvSpPr>
        <p:spPr>
          <a:xfrm>
            <a:off x="8759952" y="1353312"/>
            <a:ext cx="2926080" cy="4187952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2700">
            <a:solidFill>
              <a:srgbClr val="D7DFEA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8979408" y="1572768"/>
            <a:ext cx="1444752" cy="320040"/>
          </a:xfrm>
          <a:prstGeom prst="roundRect">
            <a:avLst>
              <a:gd name="adj" fmla="val 45714"/>
            </a:avLst>
          </a:prstGeom>
          <a:solidFill>
            <a:srgbClr val="FFF2E8"/>
          </a:solidFill>
          <a:ln w="12700">
            <a:solidFill>
              <a:srgbClr val="FFF2E8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8979408" y="1581912"/>
            <a:ext cx="144475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C2410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LEARNER TAKEAWAY</a:t>
            </a:r>
            <a:endParaRPr lang="en-US" sz="1150" dirty="0"/>
          </a:p>
        </p:txBody>
      </p:sp>
      <p:sp>
        <p:nvSpPr>
          <p:cNvPr id="58" name="Text 56"/>
          <p:cNvSpPr/>
          <p:nvPr/>
        </p:nvSpPr>
        <p:spPr>
          <a:xfrm>
            <a:off x="8979408" y="2039112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use RAG here?</a:t>
            </a:r>
            <a:endParaRPr lang="en-US" sz="1700" dirty="0"/>
          </a:p>
        </p:txBody>
      </p:sp>
      <p:sp>
        <p:nvSpPr>
          <p:cNvPr id="59" name="Shape 57"/>
          <p:cNvSpPr/>
          <p:nvPr/>
        </p:nvSpPr>
        <p:spPr>
          <a:xfrm>
            <a:off x="8979408" y="2487168"/>
            <a:ext cx="2450592" cy="804672"/>
          </a:xfrm>
          <a:prstGeom prst="roundRect">
            <a:avLst>
              <a:gd name="adj" fmla="val 9091"/>
            </a:avLst>
          </a:prstGeom>
          <a:solidFill>
            <a:srgbClr val="F1F5F9"/>
          </a:solidFill>
          <a:ln w="12700">
            <a:solidFill>
              <a:srgbClr val="D7DFEA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9144000" y="2578608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30" b="1" dirty="0">
                <a:solidFill>
                  <a:srgbClr val="2532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model training needed</a:t>
            </a:r>
            <a:endParaRPr lang="en-US" sz="1230" dirty="0"/>
          </a:p>
        </p:txBody>
      </p:sp>
      <p:sp>
        <p:nvSpPr>
          <p:cNvPr id="61" name="Text 59"/>
          <p:cNvSpPr/>
          <p:nvPr/>
        </p:nvSpPr>
        <p:spPr>
          <a:xfrm>
            <a:off x="9144000" y="2816352"/>
            <a:ext cx="20848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PDF becomes the knowledge source through embeddings + retrieval.</a:t>
            </a:r>
            <a:endParaRPr lang="en-US" sz="1050" dirty="0"/>
          </a:p>
        </p:txBody>
      </p:sp>
      <p:sp>
        <p:nvSpPr>
          <p:cNvPr id="62" name="Shape 60"/>
          <p:cNvSpPr/>
          <p:nvPr/>
        </p:nvSpPr>
        <p:spPr>
          <a:xfrm>
            <a:off x="8979408" y="3419856"/>
            <a:ext cx="2450592" cy="804672"/>
          </a:xfrm>
          <a:prstGeom prst="roundRect">
            <a:avLst>
              <a:gd name="adj" fmla="val 9091"/>
            </a:avLst>
          </a:prstGeom>
          <a:solidFill>
            <a:srgbClr val="E8F7F5"/>
          </a:solidFill>
          <a:ln w="12700">
            <a:solidFill>
              <a:srgbClr val="B5E4DE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9144000" y="3511296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30" b="1" dirty="0">
                <a:solidFill>
                  <a:srgbClr val="2532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More controlled answers</a:t>
            </a:r>
            <a:endParaRPr lang="en-US" sz="1230" dirty="0"/>
          </a:p>
        </p:txBody>
      </p:sp>
      <p:sp>
        <p:nvSpPr>
          <p:cNvPr id="64" name="Text 62"/>
          <p:cNvSpPr/>
          <p:nvPr/>
        </p:nvSpPr>
        <p:spPr>
          <a:xfrm>
            <a:off x="9144000" y="3749040"/>
            <a:ext cx="20848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prompt tells the LLM to use only retrieved policy context.</a:t>
            </a:r>
            <a:endParaRPr lang="en-US" sz="1050" dirty="0"/>
          </a:p>
        </p:txBody>
      </p:sp>
      <p:sp>
        <p:nvSpPr>
          <p:cNvPr id="65" name="Shape 63"/>
          <p:cNvSpPr/>
          <p:nvPr/>
        </p:nvSpPr>
        <p:spPr>
          <a:xfrm>
            <a:off x="8979408" y="4352544"/>
            <a:ext cx="2450592" cy="804672"/>
          </a:xfrm>
          <a:prstGeom prst="roundRect">
            <a:avLst>
              <a:gd name="adj" fmla="val 9091"/>
            </a:avLst>
          </a:prstGeom>
          <a:solidFill>
            <a:srgbClr val="F1F5F9"/>
          </a:solidFill>
          <a:ln w="12700">
            <a:solidFill>
              <a:srgbClr val="D7DFEA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9144000" y="4443984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30" b="1" dirty="0">
                <a:solidFill>
                  <a:srgbClr val="2532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Conversation stays usable</a:t>
            </a:r>
            <a:endParaRPr lang="en-US" sz="1230" dirty="0"/>
          </a:p>
        </p:txBody>
      </p:sp>
      <p:sp>
        <p:nvSpPr>
          <p:cNvPr id="67" name="Text 65"/>
          <p:cNvSpPr/>
          <p:nvPr/>
        </p:nvSpPr>
        <p:spPr>
          <a:xfrm>
            <a:off x="9144000" y="4681728"/>
            <a:ext cx="20848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Streamlit session state keeps chat messages until “Clear Chat”.</a:t>
            </a:r>
            <a:endParaRPr lang="en-US" sz="1050" dirty="0"/>
          </a:p>
        </p:txBody>
      </p:sp>
      <p:sp>
        <p:nvSpPr>
          <p:cNvPr id="68" name="Shape 66"/>
          <p:cNvSpPr/>
          <p:nvPr/>
        </p:nvSpPr>
        <p:spPr>
          <a:xfrm>
            <a:off x="502920" y="5760720"/>
            <a:ext cx="11183112" cy="713232"/>
          </a:xfrm>
          <a:prstGeom prst="roundRect">
            <a:avLst>
              <a:gd name="adj" fmla="val 10256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713232" y="5925312"/>
            <a:ext cx="566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BBD1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DEMO</a:t>
            </a:r>
            <a:endParaRPr lang="en-US" sz="1150" dirty="0"/>
          </a:p>
        </p:txBody>
      </p:sp>
      <p:sp>
        <p:nvSpPr>
          <p:cNvPr id="70" name="Text 68"/>
          <p:cNvSpPr/>
          <p:nvPr/>
        </p:nvSpPr>
        <p:spPr>
          <a:xfrm>
            <a:off x="1298448" y="5843016"/>
            <a:ext cx="3090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“What is the VPN policy when working from home?”</a:t>
            </a:r>
            <a:endParaRPr lang="en-US" sz="1320" dirty="0"/>
          </a:p>
        </p:txBody>
      </p:sp>
      <p:sp>
        <p:nvSpPr>
          <p:cNvPr id="71" name="Text 69"/>
          <p:cNvSpPr/>
          <p:nvPr/>
        </p:nvSpPr>
        <p:spPr>
          <a:xfrm>
            <a:off x="4407408" y="5852160"/>
            <a:ext cx="292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ED8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2000" dirty="0"/>
          </a:p>
        </p:txBody>
      </p:sp>
      <p:sp>
        <p:nvSpPr>
          <p:cNvPr id="72" name="Text 70"/>
          <p:cNvSpPr/>
          <p:nvPr/>
        </p:nvSpPr>
        <p:spPr>
          <a:xfrm>
            <a:off x="4700016" y="5843016"/>
            <a:ext cx="2633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1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FAISS finds the closest policy chunks</a:t>
            </a:r>
            <a:endParaRPr lang="en-US" sz="1210" dirty="0"/>
          </a:p>
        </p:txBody>
      </p:sp>
      <p:sp>
        <p:nvSpPr>
          <p:cNvPr id="73" name="Text 71"/>
          <p:cNvSpPr/>
          <p:nvPr/>
        </p:nvSpPr>
        <p:spPr>
          <a:xfrm>
            <a:off x="7342632" y="5852160"/>
            <a:ext cx="292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ED8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2000" dirty="0"/>
          </a:p>
        </p:txBody>
      </p:sp>
      <p:sp>
        <p:nvSpPr>
          <p:cNvPr id="74" name="Text 72"/>
          <p:cNvSpPr/>
          <p:nvPr/>
        </p:nvSpPr>
        <p:spPr>
          <a:xfrm>
            <a:off x="7653528" y="5843016"/>
            <a:ext cx="34930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1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Gemini answers from those chunks only</a:t>
            </a:r>
            <a:endParaRPr lang="en-US" sz="121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Use Case: IT Policy RAG Chatbot</dc:title>
  <dc:subject>IT Policy RAG Chatbot Use Case</dc:subject>
  <dc:creator>OpenAI</dc:creator>
  <cp:lastModifiedBy>OpenAI</cp:lastModifiedBy>
  <cp:revision>1</cp:revision>
  <dcterms:created xsi:type="dcterms:W3CDTF">2026-08-30T13:23:23Z</dcterms:created>
  <dcterms:modified xsi:type="dcterms:W3CDTF">2026-08-30T13:23:23Z</dcterms:modified>
</cp:coreProperties>
</file>